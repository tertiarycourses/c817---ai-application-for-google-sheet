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Application for Google Sheet (C817)</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C817</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27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CERTIFICATION</a:t>
            </a:r>
          </a:p>
          <a:p>
            <a:pPr algn="l">
              <a:spcAft>
                <a:spcPts val="300"/>
              </a:spcAft>
            </a:pPr>
            <a:r>
              <a:rPr sz="1400" b="0">
                <a:solidFill>
                  <a:srgbClr val="161B26"/>
                </a:solidFill>
                <a:latin typeface="Arial"/>
              </a:rPr>
              <a:t>Industry certified in the subject area of this course.</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Professional short courses for Tertiary Infotech Academy.</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name and organisation / role.</a:t>
            </a:r>
          </a:p>
        </p:txBody>
      </p:sp>
      <p:sp>
        <p:nvSpPr>
          <p:cNvPr id="12" name="Rectangle 11"/>
          <p:cNvSpPr/>
          <p:nvPr/>
        </p:nvSpPr>
        <p:spPr>
          <a:xfrm>
            <a:off x="777240" y="3316224"/>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3389376"/>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Your experience with this subject (if any).</a:t>
            </a:r>
          </a:p>
        </p:txBody>
      </p:sp>
      <p:sp>
        <p:nvSpPr>
          <p:cNvPr id="17" name="Rectangle 16"/>
          <p:cNvSpPr/>
          <p:nvPr/>
        </p:nvSpPr>
        <p:spPr>
          <a:xfrm>
            <a:off x="777240" y="4803648"/>
            <a:ext cx="10634472"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876800"/>
            <a:ext cx="9738360" cy="1176528"/>
          </a:xfrm>
          <a:prstGeom prst="rect">
            <a:avLst/>
          </a:prstGeom>
          <a:noFill/>
        </p:spPr>
        <p:txBody>
          <a:bodyPr wrap="square" anchor="ctr">
            <a:spAutoFit/>
          </a:bodyPr>
          <a:lstStyle/>
          <a:p>
            <a:pPr algn="l">
              <a:spcAft>
                <a:spcPts val="400"/>
              </a:spcAft>
            </a:pPr>
            <a:r>
              <a:rPr sz="1700" b="0">
                <a:solidFill>
                  <a:srgbClr val="161B26"/>
                </a:solidFill>
                <a:latin typeface="Arial"/>
              </a:rPr>
              <a:t>What you want to be able to do after this course.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PORTAL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Download Course Material</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Sign in at the LMS-TMS portal</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this course from your dashboard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Go to the Courseware tab</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(PPT/PDF), Learner Guide and Lesson Plan</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them open alongside the labs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600" b="1">
                <a:solidFill>
                  <a:srgbClr val="1F6FEB"/>
                </a:solidFill>
                <a:latin typeface="Arial"/>
              </a:rPr>
              <a:t>Portal:  https://lms-tms.tertiaryinfotech.com</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Lesson Plan — 1 Day, 8 hours/day</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1</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Getting started with Gemini AI in Google Sheets, then analysing and visualising real data with AI</a:t>
            </a:r>
          </a:p>
          <a:p>
            <a:pPr>
              <a:spcAft>
                <a:spcPts val="1000"/>
              </a:spcAft>
            </a:pPr>
            <a:r>
              <a:rPr sz="1400" b="0">
                <a:solidFill>
                  <a:srgbClr val="5B6372"/>
                </a:solidFill>
                <a:latin typeface="Arial"/>
              </a:rPr>
              <a:t>–  Topic 1: Getting Started with AI in Google Sheets (Labs 1–4)</a:t>
            </a:r>
          </a:p>
          <a:p>
            <a:pPr>
              <a:spcAft>
                <a:spcPts val="1000"/>
              </a:spcAft>
            </a:pPr>
            <a:r>
              <a:rPr sz="1400" b="0">
                <a:solidFill>
                  <a:srgbClr val="5B6372"/>
                </a:solidFill>
                <a:latin typeface="Arial"/>
              </a:rPr>
              <a:t>–  Topic 2: Analysing and Automating Data with AI in Sheets (Labs 5–8)</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1 — Getting started with Gemini AI in Google Sheets, then analysing and visualising real data with AI</a:t>
            </a:r>
          </a:p>
          <a:p>
            <a:pPr>
              <a:spcAft>
                <a:spcPts val="1000"/>
              </a:spcAft>
            </a:pPr>
            <a:r>
              <a:rPr sz="1400" b="0">
                <a:solidFill>
                  <a:srgbClr val="5B6372"/>
                </a:solidFill>
                <a:latin typeface="Arial"/>
              </a:rPr>
              <a:t>–  Topic 1: Getting Started with AI in Google Sheets (Labs 1–4)</a:t>
            </a:r>
          </a:p>
          <a:p>
            <a:pPr>
              <a:spcAft>
                <a:spcPts val="1000"/>
              </a:spcAft>
            </a:pPr>
            <a:r>
              <a:rPr sz="1400" b="0">
                <a:solidFill>
                  <a:srgbClr val="5B6372"/>
                </a:solidFill>
                <a:latin typeface="Arial"/>
              </a:rPr>
              <a:t>–  Topic 2: Analysing and Automating Data with AI in Sheets (Labs 5–8)</a:t>
            </a:r>
          </a:p>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9:30am–6:30pm · 1-hour lunch · tea breaks within training time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access AI</a:t>
            </a:r>
          </a:p>
          <a:p>
            <a:pPr algn="l">
              <a:spcAft>
                <a:spcPts val="300"/>
              </a:spcAft>
            </a:pPr>
            <a:r>
              <a:rPr sz="1300" b="0">
                <a:solidFill>
                  <a:srgbClr val="5B6372"/>
                </a:solidFill>
                <a:latin typeface="Arial"/>
              </a:rPr>
              <a:t>Explain what generative AI and Gemini in Google Sheets are, and set up and access AI features inside a sheet.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Generate &amp; explain formulas</a:t>
            </a:r>
          </a:p>
          <a:p>
            <a:pPr algn="l">
              <a:spcAft>
                <a:spcPts val="300"/>
              </a:spcAft>
            </a:pPr>
            <a:r>
              <a:rPr sz="1300" b="0">
                <a:solidFill>
                  <a:srgbClr val="5B6372"/>
                </a:solidFill>
                <a:latin typeface="Arial"/>
              </a:rPr>
              <a:t>Generate spreadsheet formulas with AI and use AI to explain, step by step, what a formula does.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effectively</a:t>
            </a:r>
          </a:p>
          <a:p>
            <a:pPr algn="l">
              <a:spcAft>
                <a:spcPts val="300"/>
              </a:spcAft>
            </a:pPr>
            <a:r>
              <a:rPr sz="1300" b="0">
                <a:solidFill>
                  <a:srgbClr val="5B6372"/>
                </a:solidFill>
                <a:latin typeface="Arial"/>
              </a:rPr>
              <a:t>Write clear, effective prompts that get accurate results for spreadsheet tasks.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Clean &amp; organise data</a:t>
            </a:r>
          </a:p>
          <a:p>
            <a:pPr algn="l">
              <a:spcAft>
                <a:spcPts val="300"/>
              </a:spcAft>
            </a:pPr>
            <a:r>
              <a:rPr sz="1300" b="0">
                <a:solidFill>
                  <a:srgbClr val="5B6372"/>
                </a:solidFill>
                <a:latin typeface="Arial"/>
              </a:rPr>
              <a:t>Use AI to clean, transform and organise messy spreadsheet data into a usable table.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Summarise &amp; analyse</a:t>
            </a:r>
          </a:p>
          <a:p>
            <a:pPr algn="l">
              <a:spcAft>
                <a:spcPts val="300"/>
              </a:spcAft>
            </a:pPr>
            <a:r>
              <a:rPr sz="1300" b="0">
                <a:solidFill>
                  <a:srgbClr val="5B6372"/>
                </a:solidFill>
                <a:latin typeface="Arial"/>
              </a:rPr>
              <a:t>Summarise and analyse datasets with AI to surface useful, decision-ready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Charts &amp; visuals</a:t>
            </a:r>
          </a:p>
          <a:p>
            <a:pPr algn="l">
              <a:spcAft>
                <a:spcPts val="300"/>
              </a:spcAft>
            </a:pPr>
            <a:r>
              <a:rPr sz="1300" b="0">
                <a:solidFill>
                  <a:srgbClr val="5B6372"/>
                </a:solidFill>
                <a:latin typeface="Arial"/>
              </a:rPr>
              <a:t>Create tables, charts and visualisations from your data using AI.</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Validate &amp; apply safely</a:t>
            </a:r>
          </a:p>
          <a:p>
            <a:pPr algn="l">
              <a:spcAft>
                <a:spcPts val="300"/>
              </a:spcAft>
            </a:pPr>
            <a:r>
              <a:rPr sz="1300" b="0">
                <a:solidFill>
                  <a:srgbClr val="5B6372"/>
                </a:solidFill>
                <a:latin typeface="Arial"/>
              </a:rPr>
              <a:t>Validate AI output for accuracy and apply AI safely and responsibly to real work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Fundamentals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AI Works Inside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From typing formulas to describing results — you tell Gemini the outcome you want and it produces the formula or the data for you.</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It works where your data lives — Gemini runs inside the sheet, using the ranges and tabs you already have.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Two ways in — the Gemini side panel for a conversation about your data, and the =AI() function for AI output right in a cell.</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178808"/>
            <a:ext cx="3973068" cy="1920240"/>
          </a:xfrm>
          <a:prstGeom prst="rect">
            <a:avLst/>
          </a:prstGeom>
          <a:noFill/>
        </p:spPr>
        <p:txBody>
          <a:bodyPr wrap="square" anchor="ctr">
            <a:spAutoFit/>
          </a:bodyPr>
          <a:lstStyle/>
          <a:p>
            <a:pPr algn="l">
              <a:spcAft>
                <a:spcPts val="400"/>
              </a:spcAft>
            </a:pPr>
            <a:r>
              <a:rPr sz="1500" b="0">
                <a:solidFill>
                  <a:srgbClr val="161B26"/>
                </a:solidFill>
                <a:latin typeface="Arial"/>
              </a:rPr>
              <a:t>You stay accountable — AI drafts and suggests; you verify every result before it informs a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Ask–Check–Apply Loop</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Prepare</a:t>
            </a:r>
          </a:p>
          <a:p>
            <a:pPr algn="l">
              <a:spcAft>
                <a:spcPts val="300"/>
              </a:spcAft>
            </a:pPr>
            <a:r>
              <a:rPr sz="1200" b="0">
                <a:solidFill>
                  <a:srgbClr val="5B6372"/>
                </a:solidFill>
                <a:latin typeface="Arial"/>
              </a:rPr>
              <a:t>Know your data: which range, what each column means, and what a correct answer looks like.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Ask</a:t>
            </a:r>
          </a:p>
          <a:p>
            <a:pPr algn="l">
              <a:spcAft>
                <a:spcPts val="300"/>
              </a:spcAft>
            </a:pPr>
            <a:r>
              <a:rPr sz="1200" b="0">
                <a:solidFill>
                  <a:srgbClr val="5B6372"/>
                </a:solidFill>
                <a:latin typeface="Arial"/>
              </a:rPr>
              <a:t>Write a clear prompt — the range, the goal, the output format and any conditions.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Check</a:t>
            </a:r>
          </a:p>
          <a:p>
            <a:pPr algn="l">
              <a:spcAft>
                <a:spcPts val="300"/>
              </a:spcAft>
            </a:pPr>
            <a:r>
              <a:rPr sz="1200" b="0">
                <a:solidFill>
                  <a:srgbClr val="5B6372"/>
                </a:solidFill>
                <a:latin typeface="Arial"/>
              </a:rPr>
              <a:t>Verify the AI's formula or result against a value you can confirm yourself.</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Apply</a:t>
            </a:r>
          </a:p>
          <a:p>
            <a:pPr algn="l">
              <a:spcAft>
                <a:spcPts val="300"/>
              </a:spcAft>
            </a:pPr>
            <a:r>
              <a:rPr sz="1200" b="0">
                <a:solidFill>
                  <a:srgbClr val="5B6372"/>
                </a:solidFill>
                <a:latin typeface="Arial"/>
              </a:rPr>
              <a:t>Put the verified result to work in your sheet.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Refine</a:t>
            </a:r>
          </a:p>
          <a:p>
            <a:pPr algn="l">
              <a:spcAft>
                <a:spcPts val="300"/>
              </a:spcAft>
            </a:pPr>
            <a:r>
              <a:rPr sz="1200" b="0">
                <a:solidFill>
                  <a:srgbClr val="5B6372"/>
                </a:solidFill>
                <a:latin typeface="Arial"/>
              </a:rPr>
              <a:t>Adjust the prompt and re-run until the output is right, then reuse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WORKING RULE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in Sheets is fastest when your prompt is specific and your check is honest.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This course is hands-on: you clean, calculate, analyse and chart one real dataset with Gemini, verifying every result before you trust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 clean dataset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messy orders sheet standardised and organised</a:t>
            </a:r>
          </a:p>
          <a:p>
            <a:pPr>
              <a:spcAft>
                <a:spcPts val="900"/>
              </a:spcAft>
            </a:pPr>
            <a:r>
              <a:rPr sz="1400" b="0">
                <a:solidFill>
                  <a:srgbClr val="161B26"/>
                </a:solidFill>
                <a:latin typeface="Arial"/>
              </a:rPr>
              <a:t>•  Consistent dates, text and categories</a:t>
            </a:r>
          </a:p>
          <a:p>
            <a:pPr>
              <a:spcAft>
                <a:spcPts val="900"/>
              </a:spcAft>
            </a:pPr>
            <a:r>
              <a:rPr sz="1400" b="0">
                <a:solidFill>
                  <a:srgbClr val="161B26"/>
                </a:solidFill>
                <a:latin typeface="Arial"/>
              </a:rPr>
              <a:t>•  Formulas generated and explained by 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An analysis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Totals, averages and top performers</a:t>
            </a:r>
          </a:p>
          <a:p>
            <a:pPr>
              <a:spcAft>
                <a:spcPts val="900"/>
              </a:spcAft>
            </a:pPr>
            <a:r>
              <a:rPr sz="1400" b="0">
                <a:solidFill>
                  <a:srgbClr val="161B26"/>
                </a:solidFill>
                <a:latin typeface="Arial"/>
              </a:rPr>
              <a:t>•  A summary table / pivot</a:t>
            </a:r>
          </a:p>
          <a:p>
            <a:pPr>
              <a:spcAft>
                <a:spcPts val="900"/>
              </a:spcAft>
            </a:pPr>
            <a:r>
              <a:rPr sz="1400" b="0">
                <a:solidFill>
                  <a:srgbClr val="161B26"/>
                </a:solidFill>
                <a:latin typeface="Arial"/>
              </a:rPr>
              <a:t>•  A plain-language read of the numbers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 visual story, applied safely</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right chart for the message</a:t>
            </a:r>
          </a:p>
          <a:p>
            <a:pPr>
              <a:spcAft>
                <a:spcPts val="900"/>
              </a:spcAft>
            </a:pPr>
            <a:r>
              <a:rPr sz="1400" b="0">
                <a:solidFill>
                  <a:srgbClr val="161B26"/>
                </a:solidFill>
                <a:latin typeface="Arial"/>
              </a:rPr>
              <a:t>•  AI outputs checked against known values</a:t>
            </a:r>
          </a:p>
          <a:p>
            <a:pPr>
              <a:spcAft>
                <a:spcPts val="900"/>
              </a:spcAft>
            </a:pPr>
            <a:r>
              <a:rPr sz="1400" b="0">
                <a:solidFill>
                  <a:srgbClr val="161B26"/>
                </a:solidFill>
                <a:latin typeface="Arial"/>
              </a:rPr>
              <a:t>•  Your own safe-use checklist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Every Lab Works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The trainer demonstrates the AI technique on the shared Riverside Supplies dataset.</a:t>
            </a:r>
          </a:p>
        </p:txBody>
      </p:sp>
      <p:sp>
        <p:nvSpPr>
          <p:cNvPr id="12" name="Rectangle 11"/>
          <p:cNvSpPr/>
          <p:nvPr/>
        </p:nvSpPr>
        <p:spPr>
          <a:xfrm>
            <a:off x="6176772" y="1828800"/>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316480"/>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334768"/>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do it yourself in Google Sheets — on the sample data, or on your own non-confidential data.</a:t>
            </a:r>
          </a:p>
        </p:txBody>
      </p:sp>
      <p:sp>
        <p:nvSpPr>
          <p:cNvPr id="17" name="Rectangle 16"/>
          <p:cNvSpPr/>
          <p:nvPr/>
        </p:nvSpPr>
        <p:spPr>
          <a:xfrm>
            <a:off x="777240"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verify the result against the lab's explicit 'Test it' check.</a:t>
            </a:r>
          </a:p>
        </p:txBody>
      </p:sp>
      <p:sp>
        <p:nvSpPr>
          <p:cNvPr id="22" name="Rectangle 21"/>
          <p:cNvSpPr/>
          <p:nvPr/>
        </p:nvSpPr>
        <p:spPr>
          <a:xfrm>
            <a:off x="6176772" y="3316224"/>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3316224"/>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3803904"/>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3822192"/>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3389376"/>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compare the AI's output with a value you can confirm, and refine your prompt if it is off.</a:t>
            </a:r>
          </a:p>
        </p:txBody>
      </p:sp>
      <p:sp>
        <p:nvSpPr>
          <p:cNvPr id="27" name="Rectangle 26"/>
          <p:cNvSpPr/>
          <p:nvPr/>
        </p:nvSpPr>
        <p:spPr>
          <a:xfrm>
            <a:off x="777240" y="4803648"/>
            <a:ext cx="5234940" cy="1322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03648"/>
            <a:ext cx="64008" cy="1322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0120" y="5291328"/>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309616"/>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53896" y="4876800"/>
            <a:ext cx="4338828" cy="1176528"/>
          </a:xfrm>
          <a:prstGeom prst="rect">
            <a:avLst/>
          </a:prstGeom>
          <a:noFill/>
        </p:spPr>
        <p:txBody>
          <a:bodyPr wrap="square" anchor="ctr">
            <a:spAutoFit/>
          </a:bodyPr>
          <a:lstStyle/>
          <a:p>
            <a:pPr algn="l">
              <a:spcAft>
                <a:spcPts val="400"/>
              </a:spcAft>
            </a:pPr>
            <a:r>
              <a:rPr sz="1400" b="0">
                <a:solidFill>
                  <a:srgbClr val="161B26"/>
                </a:solidFill>
                <a:latin typeface="Arial"/>
              </a:rPr>
              <a:t>You keep the working prompt or formula — it becomes part of your AI-in-Sheets toolkit.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AI in Google Sheets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Generative AI &amp; Gemini in Sheets · Setting up and accessing AI · Generating and explaining formulas · Effective prompting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Key Concepts — Getting Started with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Generative AI — AI that creates new content (text, formulas, summaries) from a plain-language request, rather than only looking things up.</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Gemini in Google Sheets — Google's built-in AI that helps you build formulas, clean data, analyse and summarise, directly inside a spreadsheet.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Where to find it — the Gemini side panel ("Ask Gemini") and AI-assisted menus let you work in plain English without leaving your sheet.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The =AI() function — a Sheets function that sends your prompt to Gemini and returns the result straight into a cell, so AI output becomes spreadsheet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Generating formulas — describe the calculation you want in words and let AI write the correct formula (SUM, IF, VLOOKUP, and more) for you.</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Explaining formulas — paste any formula and ask AI to explain, step by step, what it does — a fast way to learn and to check an inherited sheet.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AI in Google Sheets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Effective prompting — a good spreadsheet prompt names the range, the goal, the output format and any conditions, so the AI has no room to guess.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Human in the loop — AI drafts; you check. Always verify a formula or result against a value you can confirm before you rely on it.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Hands-On Labs — Getting Started with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1–2</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Set Up and Access Gemini AI in Google Sheets</a:t>
            </a:r>
          </a:p>
          <a:p>
            <a:pPr>
              <a:spcAft>
                <a:spcPts val="900"/>
              </a:spcAft>
            </a:pPr>
            <a:r>
              <a:rPr sz="1400" b="0">
                <a:solidFill>
                  <a:srgbClr val="161B26"/>
                </a:solidFill>
                <a:latin typeface="Arial"/>
              </a:rPr>
              <a:t>•  Generate and Explain Formulas with 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3–4</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Combine and Troubleshoot Formulas with AI</a:t>
            </a:r>
          </a:p>
          <a:p>
            <a:pPr>
              <a:spcAft>
                <a:spcPts val="900"/>
              </a:spcAft>
            </a:pPr>
            <a:r>
              <a:rPr sz="1400" b="0">
                <a:solidFill>
                  <a:srgbClr val="161B26"/>
                </a:solidFill>
                <a:latin typeface="Arial"/>
              </a:rPr>
              <a:t>•  Write Effective Prompts for Spreadsheet Tasks</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This lab gets AI working in your spreadsheet. You make your own copy of the Riverside Supplies orders sheet, open the Gemini side panel, and ask a first read-only question so you can see the ask-check loop before you rely on it.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Your own copy of the Riverside Supplies sheet in Drive, with Gemini open and a first answer verified.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Google Sheets, Google Drive, Gemini side panel (Ask Gemini)</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sample 'Riverside Supplies — Q1 Orders' sheet from the link the trainer shares.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Make it yours: File &gt; Make a copy, and save it to your Drive as 'Riverside Supplies — Q1 Orders (&lt;YOUR NAME&gt;)'.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Look at the Orders tab: note the columns Order ID, Order Date, Customer, Region, Product, Category, Quantity, Unit Price, Total — and that some cells are messy. You will fix those later.</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Open the Gemini side panel — click 'Ask Gemini' (the sparkle, top-right). If you cannot see it, tell the trainer; access is confirmed at the start of the day.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 first, read-only question to confirm Gemini can see your data.</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How many rows of orders are in the Orders tab, and what does each column mean?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answer: compare the row count Gemini gives against the row count shown at the bottom-left of the sheet.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one follow-up so you see Gemini use the data.</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Which 3 products appear most often in the Orders tab?</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nothing changed — asking Gemini a question is read-only. You have now seen the ask-check loop safely.</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 Up and Access Gemini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your own copy of the sheet in Drive, the Gemini panel open, and a first answer whose row count matches the count shown at the bottom of the sheet.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Now you let AI write formulas for you. You fill the blank Total column and add a grand total by asking Gemini for the formula, verify each against a value you can confirm, then paste an unfamiliar formula and have AI explain it step by step.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working, AI-generated Total column and grand total, each verified, plus a plain-English explanation of a formula.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formula generation, formula explanation, SUM, IF</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Click cell I2 (Total). Ask Gemini for a formula that multiplies Quantity by Unit Price.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Google Sheets formula for cell I2 that multiplies Quantity in G2 by Unit Price in H2.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the formula into I2 and fill it down the column (double-click the small square at the cell's bottom-right).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=G2*H2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pick any row and check by hand that Quantity x Unit Price equals the Total shown.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for one formula that totals the whole Total column into cell K1.</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formula for cell K1 that gives the grand total of the Total column 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it into K1 and read the result.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Cross-check: select I2:I200 and read the Sum shown in the status bar at the bottom-right — it should match K1.</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Learn from a formula: paste this into the Gemini panel and ask it to explain, step by step.</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Explain what this formula does, step by step: =IF(G2&gt;=10,"Bulk","Standard")</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Read the explanation and write one sentence in your notes on what =IF does.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Generate and Explain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Total column is filled with a verified formula, K1 equals the status-bar Sum of I2:I200, and you can explain in one sentence what the =IF formula does.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Real formulas need combining and fixing. You ask AI for a conditional total (sales for one region), hit the messy-data edge case that makes it wrong, and use Gemini to diagnose and correct it — verifying every version against a filtered check.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verified region-total formula (SUMIF) and an AI-assisted fix for a deliberately broken formula.</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SUMIF, COUNTIF, troubleshooting, refinement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 cell K3, ask AI for a formula that adds up Total for every order where Region is 'North'.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Write a formula for K3 that sums column I where column D equals "North", for rows 2 to 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it into K3 and note the figure.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=SUMIF(D2:D200,"North",I2:I200)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filter the sheet to Region = North and read the status-bar Sum of the visible Total cells — it should match K3.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Spot the problem: the Region column is messy ('north', 'North ', 'NORTH'), so SUMIF may miss rows and under-count. Tell AI and ask for a fix.</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My Region column has inconsistent capitalisation and extra spaces, so SUMIF misses rows. Give me a formula that totals Total for North regardless of case or spaces.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Paste the improved formula Gemini gives and compare the new North total with the old one.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=SUMIF(D2:D200,"*north*",I2:I200)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explain, in one or two sentences, why the first formula missed rows.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Break something on purpose: change K3 to reference the wrong column, then paste the wrong result to Gemini and ask what is wrong.</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This formula gives the wrong total: =SUMIF(C2:C200,"North",I2:I200). What is wrong and how do I fix it?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Apply Gemini's fix and confirm the corrected total matches your filtered check from step 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Combine and Troubleshoot Formulas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K3 gives a North total that matches your filtered status-bar Sum, and you have used AI to diagnose and correct a deliberately broken formula.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 result is only as good as the prompt. You run a vague prompt, then a specific one that names the range, goal, output and conditions, see the difference, and distil what worked into a reusable pattern you will use for the rest of the course.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written four-part prompt pattern and one strong, tested prompt saved for reuse.</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Prompt design, range/goal/output/conditions, refinement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Run a deliberately vague prompt in the Gemini panel and note how generic the answer is.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Tell me about my sales.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Now run a specific prompt for the same intent and compare the result.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From the Orders tab range A1:I200, list the top 5 products by total sales value. Show product name and total, sorted highest first, as a table.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down the four parts that made the second prompt work: the Range, the Goal, the Output format, and the Conditions.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Capture your reusable pattern in a notes cell or a document so every future prompt follows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RANGE: &lt;which cells/tab&gt; | GOAL: &lt;what to produce&gt; | OUTPUT: &lt;table/formula/number &amp; where&gt; | CONDITIONS: &lt;filters, sort, limits&gt;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conditions that keep results trustworthy: state the range explicitly and ask AI to show the formula it used so you can check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Rewrite one question of your own about the data using the pattern, and run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Refine once: change the Output or Conditions part (for example 'top 10', or 'North region only') and re-run to see the result change. Keep the better version.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Save your best prompt where you can find it again — you will reuse this pattern in every remaining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Write Effective Prompts for Spreadsheet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show two answers for the same intent (vague vs specific), a written four-part prompt pattern, and one refined prompt that produced the output you specified in the format you asked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AI in Google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Open the sample sheet, make your own copy, open the Gemini side panel, and run a first AI prompt on the data.</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generate a spreadsheet formula from a plain-language description, and to explain an existing formula.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build a multi-step formula, then diagnose and fix a broken one against a value you can confirm.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Compare a vague prompt with a specific one and capture a reusable four-part prompt pattern for spreadsheet work.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Analysing and Automating Data with AI in Sheets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Cleaning, transforming &amp; organising data · Summarising and analysing datasets · Tables, charts &amp; visualisations · Validating and applying AI safely</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Analysing and Automating Data with AI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Cleaning data — AI can standardise text, fix inconsistent formats, split or merge columns and flag blanks, turning a messy sheet into a usable 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Transforming data — reshape data with AI: extract fields, categorise rows, convert units or reformat dates without writing complex formulas by hand.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Organising data — sort, group and label records so a raw export becomes a structured table you can analyse.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Summarising datasets — ask AI for totals, averages, top and bottom performers and a plain-language summary of what the numbers say.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Analysing datasets — AI can spot trends, compare segments and answer "what" and "why" questions about your data in seconds.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Tables and pivots — turn a flat list into a summary table or pivot with AI, grouping and aggregating the figures that matter.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50%</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Analysing and Automating Data with AI in Sheets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Charts and visualisations — describe the story you want to tell and let AI suggest and build the right chart to show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400" b="0">
                <a:solidFill>
                  <a:srgbClr val="161B26"/>
                </a:solidFill>
                <a:latin typeface="Arial"/>
              </a:rPr>
              <a:t>Validating and applying safely — AI can be confidently wrong; check outputs against known values, keep confidential data out of prompts, and stay accountable for the result.</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Analysing and Automating Data with AI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Labs 5–6</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Clean, Transform and Organise Data with AI</a:t>
            </a:r>
          </a:p>
          <a:p>
            <a:pPr>
              <a:spcAft>
                <a:spcPts val="900"/>
              </a:spcAft>
            </a:pPr>
            <a:r>
              <a:rPr sz="1400" b="0">
                <a:solidFill>
                  <a:srgbClr val="161B26"/>
                </a:solidFill>
                <a:latin typeface="Arial"/>
              </a:rPr>
              <a:t>•  Summarise and Analyse Your Dataset with AI</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Labs 7–8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Tables, Charts and Visualisations with AI</a:t>
            </a:r>
          </a:p>
          <a:p>
            <a:pPr>
              <a:spcAft>
                <a:spcPts val="900"/>
              </a:spcAft>
            </a:pPr>
            <a:r>
              <a:rPr sz="1400" b="0">
                <a:solidFill>
                  <a:srgbClr val="161B26"/>
                </a:solidFill>
                <a:latin typeface="Arial"/>
              </a:rPr>
              <a:t>•  Validate AI Output and Apply AI Safely to Work Data</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Analysis is only as good as the data under it. You use Gemini to standardise the messy Region and Product text, fix the mixed date formats, and sort the records into a clean, consistent table — asking AI for the formula or steps each time and verifying the result.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cleaned, consistently formatted Orders table ready for analysis.</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TRIM, PROPER, CLEAN, date formatting, Data &gt; Sort range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how to standardise the Region column so 'north', 'North ' and 'NORTH' all become 'North'.</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Give me a formula for column J that returns column D with consistent capitalisation and no leading or trailing spaces.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Put the formula in J2 and fill it down; check that a few previously messy rows now read cleanly.</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=PROPER(TRIM(D2))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Lock the fix in: copy column J, then Edit &gt; Paste special &gt; Values only over column D, and delete the helper column J.</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standardise the Order Date column to YYYY-MM-DD, and follow its steps (Format &gt; Number &gt; Date, or the formula it gives).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Column B has dates in mixed formats. How do I make them all display as YYYY-MM-DD in Google Sheets?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a couple of dates against what they clearly should be, and confirm none turned blank or wrong.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Tidy the Product column: ask AI for a formula to trim extra spaces and fix capitalisation, apply it, and paste values back as in step 3.</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=TRIM(E2)</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Organise the data: select A1:I200 and use Data &gt; Sort range (with 'Data has header row' ticked) to sort by Order Date, ascending.</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Gemini to check your work.</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Look at the Orders tab. Are there any remaining blank cells, inconsistent categories or duplicate Order IDs I should fix?</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Clean, Transform and Organise Data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The Region and Product columns are consistent, all Order Dates display as YYYY-MM-DD, the data is sorted by date, and Gemini's check reports no remaining obvious issues (or you have fixed the ones it named).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With clean data you can ask real questions. You have Gemini summarise the quarter, compare segments and describe the trend across the three months — and you verify every figure it gives against a formula or count you compute yourself before you trust it.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short, written analysis of the quarter in which every figure has been verified.</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summarisation, AVERAGE, SUMIFS, segment analysis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for a summary of the quarter.</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Summarise the Orders tab: total sales value, number of orders, average order value, and the best-selling product. Show the figure for each.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total sales against your grand total from Lab 2 (cell K1) — they should match.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average order value yourself.</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=AVERAGE(I2:I200)</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 segment question.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Which Region had the highest total sales, and by how much more than the second-highest?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Cross-check the winning region with a SUMIF like the one you built in Lab 3.</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an analytical trend question.</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Did sales grow or fall across the three months in this quarter? Give the monthly total for each month and describe the trend in one sentence.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the monthly totals with a quick pivot or a SUMIFS by month; if any figure does not match, investigate before trusting it.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Write a 3-bullet summary of the quarter in a notes area, using only figures you have verified.</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Summarise and Analyse Your Dataset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written 3-bullet summary in which every figure — total sales, average order value and the top region — matches a formula or count you computed yourself.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7</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Numbers persuade when they are shown well. You use Gemini to design a pivot of sales by region and month, then to recommend and build the right chart, and to refine its title, labels and sorting — checking each visual against the figures you verified in Lab 6.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verified pivot table plus a labelled column chart and a monthly-trend line chart.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Gemini side panel, pivot tables, Insert &gt; Chart, chart types, chart formatting</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which summary table best shows sales performance and how to build it.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I want to see total sales by Region and by month. What pivot table should I build, and what are the steps in Google Sheets?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Build the pivot (Insert &gt; Pivot table): Rows = Region, Columns = month of Order Date, Values = SUM of Total.</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Verify one cell of the pivot against a SUMIFS you write for that same region and month.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recommend the best chart to compare sales across regions.</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What is the best chart type to compare total sales across Regions, and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Insert the chart: select the region totals, then Insert &gt; Chart, and set the recommended type (for example a column chart).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to improve it, then apply the suggestions — a clear title, axis labels, and bars sorted highest to lowest.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Suggest a clear title and axis labels for a column chart of total sales by Region, sorted highest to lowest.</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Add a second chart for the monthly trend: a line chart of total sales by month.</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Check the trend chart matches the direction you found in your Lab 6 analysis.</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Tables, Charts and Visualisations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a pivot table whose figures you verified against a formula, a labelled column chart of sales by region sorted high-to-low, and a line chart of the monthly trend consistent with your Lab 6 analysis.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8</a:t>
            </a:r>
          </a:p>
        </p:txBody>
      </p:sp>
      <p:sp>
        <p:nvSpPr>
          <p:cNvPr id="9" name="TextBox 8"/>
          <p:cNvSpPr txBox="1"/>
          <p:nvPr/>
        </p:nvSpPr>
        <p:spPr>
          <a:xfrm>
            <a:off x="777240" y="2331720"/>
            <a:ext cx="10698480" cy="1463040"/>
          </a:xfrm>
          <a:prstGeom prst="rect">
            <a:avLst/>
          </a:prstGeom>
          <a:noFill/>
        </p:spPr>
        <p:txBody>
          <a:bodyPr wrap="square" anchor="t">
            <a:spAutoFit/>
          </a:bodyPr>
          <a:lstStyle/>
          <a:p>
            <a:pPr algn="l">
              <a:spcAft>
                <a:spcPts val="400"/>
              </a:spcAft>
            </a:pPr>
            <a:r>
              <a:rPr sz="1500" b="0">
                <a:solidFill>
                  <a:srgbClr val="161B26"/>
                </a:solidFill>
                <a:latin typeface="Arial"/>
              </a:rPr>
              <a:t>The capstone. You deliberately test whether AI's answers hold up, learn to verify anything before you act on it, review what data is safe to put into a prompt, and write a safe-use checklist you apply to an earlier result — the habits that make AI in Sheets trustworthy at work. BUILDING BLOCK — what you do in this lab is applied to your copy of the Riverside Supplies sheet, the single dataset you clean, analyse and chart across all 8 labs.</a:t>
            </a:r>
          </a:p>
        </p:txBody>
      </p:sp>
      <p:sp>
        <p:nvSpPr>
          <p:cNvPr id="10" name="Rectangle 9"/>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verification habit and a written safe-use checklist you have applied to an earlier lab's result.</a:t>
            </a:r>
          </a:p>
        </p:txBody>
      </p:sp>
      <p:sp>
        <p:nvSpPr>
          <p:cNvPr id="13" name="TextBox 12"/>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t>
            </a:r>
            <a:r>
              <a:rPr sz="1300" b="0">
                <a:solidFill>
                  <a:srgbClr val="5B6372"/>
                </a:solidFill>
                <a:latin typeface="Arial"/>
              </a:rPr>
              <a:t>Validation, cross-checking, data privacy, safe-use checklist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1</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a question with a knowable answer, then verify it with a formula.</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How many orders are from the North region?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2</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Confirm the count yourself and compare.</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=COUNTIF(D2:D200,"North")</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3</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Try to catch a mistake: ask a trickier question and verify hard by recomputing it yourself.</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What percentage of total sales came from the top 3 customers? Show the range you used and the working.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4</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If the AI figure is wrong or unclear, refine the prompt (state the range and ask it to show its working) and re-run.</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5</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Set the rule: never accept an AI number you cannot tie back to a formula or count in the sheet.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6</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Review data safety: list which columns here would be sensitive if this were real company data (for example Customer names), and how you would protect them.</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7</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Ask AI for good practice, then sanity-check its advice against your own judgement.</a:t>
            </a:r>
          </a:p>
        </p:txBody>
      </p:sp>
      <p:sp>
        <p:nvSpPr>
          <p:cNvPr id="11" name="Rectangle 10"/>
          <p:cNvSpPr/>
          <p:nvPr/>
        </p:nvSpPr>
        <p:spPr>
          <a:xfrm>
            <a:off x="2331720" y="379476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60320" y="3913632"/>
            <a:ext cx="8869680" cy="640080"/>
          </a:xfrm>
          <a:prstGeom prst="rect">
            <a:avLst/>
          </a:prstGeom>
          <a:noFill/>
        </p:spPr>
        <p:txBody>
          <a:bodyPr wrap="square" anchor="ctr">
            <a:spAutoFit/>
          </a:bodyPr>
          <a:lstStyle/>
          <a:p>
            <a:pPr algn="l">
              <a:spcAft>
                <a:spcPts val="400"/>
              </a:spcAft>
            </a:pPr>
            <a:r>
              <a:rPr sz="1300" b="0">
                <a:solidFill>
                  <a:srgbClr val="9CDCFE"/>
                </a:solidFill>
                <a:latin typeface="Arial"/>
              </a:rPr>
              <a:t>$ What should I avoid putting into an AI prompt when working with real company data, and why?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505456"/>
            <a:ext cx="1280160" cy="822960"/>
          </a:xfrm>
          <a:prstGeom prst="rect">
            <a:avLst/>
          </a:prstGeom>
          <a:noFill/>
        </p:spPr>
        <p:txBody>
          <a:bodyPr wrap="square" anchor="t">
            <a:spAutoFit/>
          </a:bodyPr>
          <a:lstStyle/>
          <a:p>
            <a:pPr algn="ctr">
              <a:spcAft>
                <a:spcPts val="400"/>
              </a:spcAft>
            </a:pPr>
            <a:r>
              <a:rPr sz="3800" b="1">
                <a:solidFill>
                  <a:srgbClr val="FFFFFF"/>
                </a:solidFill>
                <a:latin typeface="Arial"/>
              </a:rPr>
              <a:t>8</a:t>
            </a:r>
          </a:p>
        </p:txBody>
      </p:sp>
      <p:sp>
        <p:nvSpPr>
          <p:cNvPr id="9" name="TextBox 8"/>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10" name="TextBox 9"/>
          <p:cNvSpPr txBox="1"/>
          <p:nvPr/>
        </p:nvSpPr>
        <p:spPr>
          <a:xfrm>
            <a:off x="2331720" y="2194560"/>
            <a:ext cx="9235440" cy="1188720"/>
          </a:xfrm>
          <a:prstGeom prst="rect">
            <a:avLst/>
          </a:prstGeom>
          <a:noFill/>
        </p:spPr>
        <p:txBody>
          <a:bodyPr wrap="square" anchor="ctr">
            <a:spAutoFit/>
          </a:bodyPr>
          <a:lstStyle/>
          <a:p>
            <a:pPr algn="l">
              <a:spcAft>
                <a:spcPts val="400"/>
              </a:spcAft>
            </a:pPr>
            <a:r>
              <a:rPr sz="2300" b="0">
                <a:solidFill>
                  <a:srgbClr val="161B26"/>
                </a:solidFill>
                <a:latin typeface="Arial"/>
              </a:rPr>
              <a:t>Draft your safe-use checklist — verify every figure; keep confidential data out of prompts; state the range; ask for the formula; record where AI was used — and apply it to one AI result from an earlier lab.</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Validate AI Output and Apply AI Safely to Work Data</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have caught or ruled out at least one AI inaccuracy by verifying it against your own formula, and you have a written safe-use checklist that you applied to an earlier lab's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Analysing and Automating Data with AI in Sheets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standardise messy text and dates, tidy fields, and organise the dataset into a clean table.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summarise the dataset and answer analytical questions, verifying every figure against a formula.</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Use AI to build a summary/pivot table and the right, clearly labelled chart to tell the data's story.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 can now: Stress-test AI output for accuracy and write a personal checklist for applying AI safely to real work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Understand &amp; access AI</a:t>
            </a:r>
          </a:p>
          <a:p>
            <a:pPr algn="l">
              <a:spcAft>
                <a:spcPts val="300"/>
              </a:spcAft>
            </a:pPr>
            <a:r>
              <a:rPr sz="1300" b="0">
                <a:solidFill>
                  <a:srgbClr val="5B6372"/>
                </a:solidFill>
                <a:latin typeface="Arial"/>
              </a:rPr>
              <a:t>Explain what generative AI and Gemini in Google Sheets are, and set up and access AI features inside a sheet.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Generate &amp; explain formulas</a:t>
            </a:r>
          </a:p>
          <a:p>
            <a:pPr algn="l">
              <a:spcAft>
                <a:spcPts val="300"/>
              </a:spcAft>
            </a:pPr>
            <a:r>
              <a:rPr sz="1300" b="0">
                <a:solidFill>
                  <a:srgbClr val="5B6372"/>
                </a:solidFill>
                <a:latin typeface="Arial"/>
              </a:rPr>
              <a:t>Generate spreadsheet formulas with AI and use AI to explain, step by step, what a formula does.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Prompt effectively</a:t>
            </a:r>
          </a:p>
          <a:p>
            <a:pPr algn="l">
              <a:spcAft>
                <a:spcPts val="300"/>
              </a:spcAft>
            </a:pPr>
            <a:r>
              <a:rPr sz="1300" b="0">
                <a:solidFill>
                  <a:srgbClr val="5B6372"/>
                </a:solidFill>
                <a:latin typeface="Arial"/>
              </a:rPr>
              <a:t>Write clear, effective prompts that get accurate results for spreadsheet tasks.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Clean &amp; organise data</a:t>
            </a:r>
          </a:p>
          <a:p>
            <a:pPr algn="l">
              <a:spcAft>
                <a:spcPts val="300"/>
              </a:spcAft>
            </a:pPr>
            <a:r>
              <a:rPr sz="1300" b="0">
                <a:solidFill>
                  <a:srgbClr val="5B6372"/>
                </a:solidFill>
                <a:latin typeface="Arial"/>
              </a:rPr>
              <a:t>Use AI to clean, transform and organise messy spreadsheet data into a usable table.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Summarise &amp; analyse</a:t>
            </a:r>
          </a:p>
          <a:p>
            <a:pPr algn="l">
              <a:spcAft>
                <a:spcPts val="300"/>
              </a:spcAft>
            </a:pPr>
            <a:r>
              <a:rPr sz="1300" b="0">
                <a:solidFill>
                  <a:srgbClr val="5B6372"/>
                </a:solidFill>
                <a:latin typeface="Arial"/>
              </a:rPr>
              <a:t>Summarise and analyse datasets with AI to surface useful, decision-ready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Charts &amp; visuals</a:t>
            </a:r>
          </a:p>
          <a:p>
            <a:pPr algn="l">
              <a:spcAft>
                <a:spcPts val="300"/>
              </a:spcAft>
            </a:pPr>
            <a:r>
              <a:rPr sz="1300" b="0">
                <a:solidFill>
                  <a:srgbClr val="5B6372"/>
                </a:solidFill>
                <a:latin typeface="Arial"/>
              </a:rPr>
              <a:t>Create tables, charts and visualisations from your data using AI.</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 (cont.)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700" b="1">
                <a:solidFill>
                  <a:srgbClr val="161B26"/>
                </a:solidFill>
                <a:latin typeface="Arial"/>
              </a:rPr>
              <a:t>Validate &amp; apply safely</a:t>
            </a:r>
          </a:p>
          <a:p>
            <a:pPr algn="l">
              <a:spcAft>
                <a:spcPts val="300"/>
              </a:spcAft>
            </a:pPr>
            <a:r>
              <a:rPr sz="1300" b="0">
                <a:solidFill>
                  <a:srgbClr val="5B6372"/>
                </a:solidFill>
                <a:latin typeface="Arial"/>
              </a:rPr>
              <a:t>Validate AI output for accuracy and apply AI safely and responsibly to real work data.</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course material stays available at https://lms-tms.tertiaryinfotech.com/.</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THANK YOU FOR ATTENDING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now have the practical skills from every lab in this course — keep applying them to your own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 Application for Google Sheet (C817)  ·  C817</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